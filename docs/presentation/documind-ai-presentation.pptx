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cbcdd4306045c0" /><Relationship Type="http://schemas.openxmlformats.org/officeDocument/2006/relationships/extended-properties" Target="/docProps/app.xml" Id="Rb39d256d4f454fd8" /><Relationship Type="http://schemas.openxmlformats.org/officeDocument/2006/relationships/officeDocument" Target="/ppt/presentation.xml" Id="R756c2b6154c8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50fd923d7e4f97"/>
  </p:sldMasterIdLst>
  <p:notesMasterIdLst>
    <p:notesMasterId xmlns:r="http://schemas.openxmlformats.org/officeDocument/2006/relationships" r:id="Re999291eb2864e82"/>
  </p:notesMasterIdLst>
  <p:sldIdLst>
    <p:sldId xmlns:r="http://schemas.openxmlformats.org/officeDocument/2006/relationships" id="256" r:id="Rd35c5468090940d4"/>
    <p:sldId xmlns:r="http://schemas.openxmlformats.org/officeDocument/2006/relationships" id="257" r:id="R85416d94ac814002"/>
    <p:sldId xmlns:r="http://schemas.openxmlformats.org/officeDocument/2006/relationships" id="258" r:id="Rd396921ec3c042ca"/>
    <p:sldId xmlns:r="http://schemas.openxmlformats.org/officeDocument/2006/relationships" id="259" r:id="Re2bec2f7c7484697"/>
    <p:sldId xmlns:r="http://schemas.openxmlformats.org/officeDocument/2006/relationships" id="260" r:id="R47c4a367ae0f4b85"/>
    <p:sldId xmlns:r="http://schemas.openxmlformats.org/officeDocument/2006/relationships" id="261" r:id="Rb78ed47fab13428c"/>
    <p:sldId xmlns:r="http://schemas.openxmlformats.org/officeDocument/2006/relationships" id="262" r:id="Rdbfe0f27bf7147b5"/>
    <p:sldId xmlns:r="http://schemas.openxmlformats.org/officeDocument/2006/relationships" id="263" r:id="R900b942ea87f4e90"/>
    <p:sldId xmlns:r="http://schemas.openxmlformats.org/officeDocument/2006/relationships" id="264" r:id="R0d5991750cfa41be"/>
    <p:sldId xmlns:r="http://schemas.openxmlformats.org/officeDocument/2006/relationships" id="265" r:id="Rce57eaa653c943d8"/>
    <p:sldId xmlns:r="http://schemas.openxmlformats.org/officeDocument/2006/relationships" id="266" r:id="R2a57bc123d54483e"/>
    <p:sldId xmlns:r="http://schemas.openxmlformats.org/officeDocument/2006/relationships" id="267" r:id="Rb0992a15fd6d47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4a3b5ffbb4d2b" /><Relationship Type="http://schemas.openxmlformats.org/officeDocument/2006/relationships/slideMaster" Target="/ppt/slideMasters/slideMaster1.xml" Id="Rc850fd923d7e4f97" /><Relationship Type="http://schemas.openxmlformats.org/officeDocument/2006/relationships/notesMaster" Target="/ppt/notesMasters/notesMaster1.xml" Id="Re999291eb2864e82" /><Relationship Type="http://schemas.openxmlformats.org/officeDocument/2006/relationships/presProps" Target="/ppt/presProps.xml" Id="R5e3c89fd1c734bee" /><Relationship Type="http://schemas.openxmlformats.org/officeDocument/2006/relationships/tableStyles" Target="/ppt/tableStyles.xml" Id="R6528f5d516c14f3d" /><Relationship Type="http://schemas.openxmlformats.org/officeDocument/2006/relationships/slide" Target="/ppt/slides/slide1.xml" Id="Rd35c5468090940d4" /><Relationship Type="http://schemas.openxmlformats.org/officeDocument/2006/relationships/slide" Target="/ppt/slides/slide2.xml" Id="R85416d94ac814002" /><Relationship Type="http://schemas.openxmlformats.org/officeDocument/2006/relationships/slide" Target="/ppt/slides/slide3.xml" Id="Rd396921ec3c042ca" /><Relationship Type="http://schemas.openxmlformats.org/officeDocument/2006/relationships/slide" Target="/ppt/slides/slide4.xml" Id="Re2bec2f7c7484697" /><Relationship Type="http://schemas.openxmlformats.org/officeDocument/2006/relationships/slide" Target="/ppt/slides/slide5.xml" Id="R47c4a367ae0f4b85" /><Relationship Type="http://schemas.openxmlformats.org/officeDocument/2006/relationships/slide" Target="/ppt/slides/slide6.xml" Id="Rb78ed47fab13428c" /><Relationship Type="http://schemas.openxmlformats.org/officeDocument/2006/relationships/slide" Target="/ppt/slides/slide7.xml" Id="Rdbfe0f27bf7147b5" /><Relationship Type="http://schemas.openxmlformats.org/officeDocument/2006/relationships/slide" Target="/ppt/slides/slide8.xml" Id="R900b942ea87f4e90" /><Relationship Type="http://schemas.openxmlformats.org/officeDocument/2006/relationships/slide" Target="/ppt/slides/slide9.xml" Id="R0d5991750cfa41be" /><Relationship Type="http://schemas.openxmlformats.org/officeDocument/2006/relationships/slide" Target="/ppt/slides/slide10.xml" Id="Rce57eaa653c943d8" /><Relationship Type="http://schemas.openxmlformats.org/officeDocument/2006/relationships/slide" Target="/ppt/slides/slide11.xml" Id="R2a57bc123d54483e" /><Relationship Type="http://schemas.openxmlformats.org/officeDocument/2006/relationships/slide" Target="/ppt/slides/slide12.xml" Id="Rb0992a15fd6d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0ade785c7d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d2ecd560b47eb" /><Relationship Type="http://schemas.openxmlformats.org/officeDocument/2006/relationships/notesMaster" Target="/ppt/notesMasters/notesMaster1.xml" Id="R5598b887748945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60fd802a64a18" /><Relationship Type="http://schemas.openxmlformats.org/officeDocument/2006/relationships/notesMaster" Target="/ppt/notesMasters/notesMaster1.xml" Id="R77c9d20b1f5044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f13226fc424e68" /><Relationship Type="http://schemas.openxmlformats.org/officeDocument/2006/relationships/notesMaster" Target="/ppt/notesMasters/notesMaster1.xml" Id="Rd375528735b64a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0477e4dede434a" /><Relationship Type="http://schemas.openxmlformats.org/officeDocument/2006/relationships/notesMaster" Target="/ppt/notesMasters/notesMaster1.xml" Id="R7aba0ad6b19b43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e668076e6477e" /><Relationship Type="http://schemas.openxmlformats.org/officeDocument/2006/relationships/notesMaster" Target="/ppt/notesMasters/notesMaster1.xml" Id="Rfc85717fe75f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3cdaa927fe4b89" /><Relationship Type="http://schemas.openxmlformats.org/officeDocument/2006/relationships/notesMaster" Target="/ppt/notesMasters/notesMaster1.xml" Id="R096ff8bf1c074d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f38cb37bdf4bb4" /><Relationship Type="http://schemas.openxmlformats.org/officeDocument/2006/relationships/notesMaster" Target="/ppt/notesMasters/notesMaster1.xml" Id="R5b44d52b620741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637321697b4731" /><Relationship Type="http://schemas.openxmlformats.org/officeDocument/2006/relationships/notesMaster" Target="/ppt/notesMasters/notesMaster1.xml" Id="R9909dde0f14a41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d6d916323b4770" /><Relationship Type="http://schemas.openxmlformats.org/officeDocument/2006/relationships/notesMaster" Target="/ppt/notesMasters/notesMaster1.xml" Id="R64b0b41dbe1a4a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7c4c4abacb4445" /><Relationship Type="http://schemas.openxmlformats.org/officeDocument/2006/relationships/notesMaster" Target="/ppt/notesMasters/notesMaster1.xml" Id="Rf15e0fad795841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3efa3d11ef4927" /><Relationship Type="http://schemas.openxmlformats.org/officeDocument/2006/relationships/notesMaster" Target="/ppt/notesMasters/notesMaster1.xml" Id="Rc36ea9285d174e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8e9d2a53a147b6" /><Relationship Type="http://schemas.openxmlformats.org/officeDocument/2006/relationships/notesMaster" Target="/ppt/notesMasters/notesMaster1.xml" Id="R84a8ea31ebb2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repository and local documentation: docs/PROJECT_DOCUMENTATION.md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docs/PROJECT_DOCUMENTATION.md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backend/documind_rag/app/schemas.py</a:t>
            </a:r>
          </a:p>
          <a:p xmlns:a="http://schemas.openxmlformats.org/drawingml/2006/main">
            <a:r>
              <a:t>backend/documind_rag/rag/service.py</a:t>
            </a:r>
          </a:p>
          <a:p xmlns:a="http://schemas.openxmlformats.org/drawingml/2006/main">
            <a:r>
              <a:t>frontend/src/pages/ExamStudioPage.tsx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frontend/src/pages/DocumentsPage.tsx</a:t>
            </a:r>
          </a:p>
          <a:p xmlns:a="http://schemas.openxmlformats.org/drawingml/2006/main">
            <a:r>
              <a:t>frontend/src/pages/AssistantPage.tsx</a:t>
            </a:r>
          </a:p>
          <a:p xmlns:a="http://schemas.openxmlformats.org/drawingml/2006/main">
            <a:r>
              <a:t>frontend/src/pages/ExamStudioPage.tsx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backend/documind_rag/app/main.py</a:t>
            </a:r>
          </a:p>
          <a:p xmlns:a="http://schemas.openxmlformats.org/drawingml/2006/main">
            <a:r>
              <a:t>backend/documind_rag/app/core/database.py</a:t>
            </a:r>
          </a:p>
          <a:p xmlns:a="http://schemas.openxmlformats.org/drawingml/2006/main">
            <a:r>
              <a:t>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backend/documind_rag/rag/service.py</a:t>
            </a:r>
          </a:p>
          <a:p xmlns:a="http://schemas.openxmlformats.org/drawingml/2006/main">
            <a:r>
              <a:t>backend/documind_rag/rag/notebook_core.py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backend/documind_rag/rag/service.py</a:t>
            </a:r>
          </a:p>
          <a:p xmlns:a="http://schemas.openxmlformats.org/drawingml/2006/main">
            <a:r>
              <a:t>backend/documind_rag/rag/notebook_core.py</a:t>
            </a:r>
          </a:p>
          <a:p xmlns:a="http://schemas.openxmlformats.org/drawingml/2006/main">
            <a:r>
              <a:t>frontend/src/pages/AssistantPage.tsx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backend/documind_rag/app/controllers/exam_controller.py</a:t>
            </a:r>
          </a:p>
          <a:p xmlns:a="http://schemas.openxmlformats.org/drawingml/2006/main">
            <a:r>
              <a:t>backend/documind_rag/app/schemas.py</a:t>
            </a:r>
          </a:p>
          <a:p xmlns:a="http://schemas.openxmlformats.org/drawingml/2006/main">
            <a:r>
              <a:t>frontend/src/pages/ExamStudioPage.tsx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backend/documind_rag/app/models/document_source.py</a:t>
            </a:r>
          </a:p>
          <a:p xmlns:a="http://schemas.openxmlformats.org/drawingml/2006/main">
            <a:r>
              <a:t>backend/documind_rag/app/repositories/document_repository.py</a:t>
            </a:r>
          </a:p>
          <a:p xmlns:a="http://schemas.openxmlformats.org/drawingml/2006/main">
            <a:r>
              <a:t>backend/documind_rag/app/controllers/index_rebuild.py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Dockerfile</a:t>
            </a:r>
          </a:p>
          <a:p xmlns:a="http://schemas.openxmlformats.org/drawingml/2006/main">
            <a:r>
              <a:t>railway.json</a:t>
            </a:r>
          </a:p>
          <a:p xmlns:a="http://schemas.openxmlformats.org/drawingml/2006/main">
            <a:r>
              <a:t>backend/requirements.txt</a:t>
            </a:r>
          </a:p>
          <a:p xmlns:a="http://schemas.openxmlformats.org/drawingml/2006/main">
            <a:r>
              <a:t>frontend/package.json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docs/PROJECT_DOCUMENTATION.md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frontend/public/team/kareem-ayman.png</a:t>
            </a:r>
          </a:p>
          <a:p xmlns:a="http://schemas.openxmlformats.org/drawingml/2006/main">
            <a:r>
              <a:t>frontend/public/team/jana-ashraf.png</a:t>
            </a:r>
          </a:p>
          <a:p xmlns:a="http://schemas.openxmlformats.org/drawingml/2006/main">
            <a:r>
              <a:t>User-provided supervision credits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f12a3105344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a0e2466da94dee" /><Relationship Type="http://schemas.openxmlformats.org/officeDocument/2006/relationships/slideLayout" Target="/ppt/slideLayouts/slideLayout1.xml" Id="Ra6385def1f7b4d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385def1f7b4d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ad0398d9b4b7e" /><Relationship Type="http://schemas.openxmlformats.org/officeDocument/2006/relationships/notesSlide" Target="/ppt/notesSlides/notesSlide1.xml" Id="Rff08e219335941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c8d38bd0f4833" /><Relationship Type="http://schemas.openxmlformats.org/officeDocument/2006/relationships/notesSlide" Target="/ppt/notesSlides/notesSlide2.xml" Id="R01cb0358e211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739107c5e4524" /><Relationship Type="http://schemas.openxmlformats.org/officeDocument/2006/relationships/notesSlide" Target="/ppt/notesSlides/notesSlide3.xml" Id="R7053a53983d34d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dbdb40a964967" /><Relationship Type="http://schemas.openxmlformats.org/officeDocument/2006/relationships/notesSlide" Target="/ppt/notesSlides/notesSlide4.xml" Id="R825e5c969ba1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faacf2d2e4282" /><Relationship Type="http://schemas.openxmlformats.org/officeDocument/2006/relationships/notesSlide" Target="/ppt/notesSlides/notesSlide5.xml" Id="R05f64824f0bd40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62b64a424488f" /><Relationship Type="http://schemas.openxmlformats.org/officeDocument/2006/relationships/notesSlide" Target="/ppt/notesSlides/notesSlide6.xml" Id="R7e793fad64b245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38681c7ff4cc7" /><Relationship Type="http://schemas.openxmlformats.org/officeDocument/2006/relationships/notesSlide" Target="/ppt/notesSlides/notesSlide7.xml" Id="Re54f7469498c42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c97e8b2034db4" /><Relationship Type="http://schemas.openxmlformats.org/officeDocument/2006/relationships/notesSlide" Target="/ppt/notesSlides/notesSlide8.xml" Id="Rbcbf4590950445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f3a5b817547bc" /><Relationship Type="http://schemas.openxmlformats.org/officeDocument/2006/relationships/notesSlide" Target="/ppt/notesSlides/notesSlide9.xml" Id="R2151094eb58b41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469c8ee1e4ce4" /><Relationship Type="http://schemas.openxmlformats.org/officeDocument/2006/relationships/notesSlide" Target="/ppt/notesSlides/notesSlide10.xml" Id="R7eb9704187174e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39b48e86a4906" /><Relationship Type="http://schemas.openxmlformats.org/officeDocument/2006/relationships/notesSlide" Target="/ppt/notesSlides/notesSlide11.xml" Id="R59fdd19789c848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c7079d135472e" /><Relationship Type="http://schemas.openxmlformats.org/officeDocument/2006/relationships/image" Target="/ppt/media/image.png" Id="R1ba87915f336489a" /><Relationship Type="http://schemas.openxmlformats.org/officeDocument/2006/relationships/image" Target="/ppt/media/image2.png" Id="R7d27d858ce8946ab" /><Relationship Type="http://schemas.openxmlformats.org/officeDocument/2006/relationships/notesSlide" Target="/ppt/notesSlides/notesSlide12.xml" Id="Ra0c74aae576648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2EF12-81DA-4F28-A9FF-0F85CAD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5070A"/>
                </a:solidFill>
              </a:defRPr>
            </a:pPr>
            <a:r>
              <a:rPr sz="4500" b="1">
                <a:solidFill>
                  <a:srgbClr val="05070A"/>
                </a:solidFill>
              </a:rPr>
              <a:t>DocuMind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4E8D3-AB83-434D-B25D-E031A920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5"/>
                </a:solidFill>
              </a:defRPr>
            </a:pPr>
            <a:r>
              <a:rPr sz="1800" b="0">
                <a:solidFill>
                  <a:srgbClr val="5E6675"/>
                </a:solidFill>
              </a:rPr>
              <a:t>Adaptive multimodal RAG for source-grounded PDF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F5D5B-986A-4CED-9FF1-1EFE8AA9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FEF1C-81CE-471F-BE1A-29B2D68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70A"/>
                </a:solidFill>
              </a:defRPr>
            </a:pPr>
            <a:r>
              <a:rPr sz="1650" b="0">
                <a:solidFill>
                  <a:srgbClr val="05070A"/>
                </a:solidFill>
              </a:rPr>
              <a:t>Supervisor: Eng / Jana Hatem</a:t>
            </a:r>
          </a:p>
          <a:p xmlns:a="http://schemas.openxmlformats.org/drawingml/2006/main">
            <a:pPr algn="l">
              <a:defRPr sz="1650" b="0">
                <a:solidFill>
                  <a:srgbClr val="05070A"/>
                </a:solidFill>
              </a:defRPr>
            </a:pPr>
            <a:r>
              <a:rPr sz="1650" b="0">
                <a:solidFill>
                  <a:srgbClr val="05070A"/>
                </a:solidFill>
              </a:rPr>
              <a:t>Assistant Engineer: Gad Amr</a:t>
            </a:r>
          </a:p>
          <a:p xmlns:a="http://schemas.openxmlformats.org/drawingml/2006/main">
            <a:pPr algn="l">
              <a:defRPr sz="1650" b="0">
                <a:solidFill>
                  <a:srgbClr val="05070A"/>
                </a:solidFill>
              </a:defRPr>
            </a:pPr>
            <a:r>
              <a:rPr sz="1650" b="0">
                <a:solidFill>
                  <a:srgbClr val="05070A"/>
                </a:solidFill>
              </a:rPr>
              <a:t>Team: Kemet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282A7-E4AB-4293-AB7C-3479385D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28700"/>
            <a:ext cx="3429000" cy="37338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F13E8-DF05-4061-BD72-41818B7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859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70A"/>
                </a:solidFill>
              </a:defRPr>
            </a:pPr>
            <a:r>
              <a:rPr sz="2550" b="1">
                <a:solidFill>
                  <a:srgbClr val="05070A"/>
                </a:solidFill>
              </a:rPr>
              <a:t>PDF → Evidence → Answer → Exam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7C291-9D64-4990-976A-B1CD5A8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2619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5"/>
                </a:solidFill>
              </a:defRPr>
            </a:pPr>
            <a:r>
              <a:rPr sz="1575" b="0">
                <a:solidFill>
                  <a:srgbClr val="5E6675"/>
                </a:solidFill>
              </a:rPr>
              <a:t>Built for source-only answers, hallucination control, and educator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1A2F-F9A0-442C-B73C-989ACD03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D9FF3-6ACE-4265-8169-140C2BE0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861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4ED92-E7FB-402C-8DEB-D0424EDC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66B1B-E67C-4600-8FA4-0F2C8760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PDF intelligence fails when the document is more than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3961E-56C9-49E7-BE70-C06A54B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Academic and technical PDFs mix tables, charts, diagrams, scanned pages, and cross-page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F62F5-220D-4928-9E99-D1762BB4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BEB2E-FF05-4CC3-91CA-4D6EA1E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E9549-FF1E-478C-A498-775F5644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Text-only extraction loses layout, tables, and visual evidence.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Generic chatbots may answer from outside the uploaded source.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Unsupported answers are risky in medical and educational contexts.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Teachers need questions, answer keys, and source pages from one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11AD6-75C9-4F9C-9DF4-5D8CE8E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B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Need: verifiable source-only AI</a:t>
            </a:r>
          </a:p>
        </p:txBody>
      </p:sp>
    </p:spTree>
    <p:extLst>
      <p:ext uri="{BB962C8B-B14F-4D97-AF65-F5344CB8AC3E}">
        <p14:creationId xmlns:p14="http://schemas.microsoft.com/office/powerpoint/2010/main" val="1580808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6F9C1-FAD2-4FF0-8D9F-C29DE52C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A10F3-CFB3-4443-A14B-C69749F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DocuMind turns uploaded PDFs into trusted answers and exams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03F13-254C-411A-A96C-EB6998DB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The platform combines retrieval, citation grounding, refusal behavior, and structured exam generation.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8BF96-4E8A-4511-A9E3-0E39323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C3717-85DF-482F-A7A8-58A15A10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13C60-944B-4DDD-8CF5-2BDEE68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E1565-8FC8-4A72-9E2A-F5118B68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Source-only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FCDCB-5FE2-4CA4-A3FF-928CE598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5"/>
                </a:solidFill>
              </a:defRPr>
            </a:pPr>
            <a:r>
              <a:rPr sz="1275" b="0">
                <a:solidFill>
                  <a:srgbClr val="5E6675"/>
                </a:solidFill>
              </a:rPr>
              <a:t>Answers are limited to uploaded PDFs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BFDA3-CFB5-4A0C-8E6A-A5E84F85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426DF-8BAF-475D-BB60-A4768C7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09646-90F7-454B-B117-8BA8F12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19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5"/>
                </a:solidFill>
              </a:defRPr>
            </a:pPr>
            <a:r>
              <a:rPr sz="1275" b="0">
                <a:solidFill>
                  <a:srgbClr val="5E6675"/>
                </a:solidFill>
              </a:rPr>
              <a:t>Page-level traces and citations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6FC9-5E48-4545-8EA9-09038642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C2B69-EB22-44D1-BA86-A01164FF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242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Exam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64508-3185-4AA7-A2AE-01D84FED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19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5"/>
                </a:solidFill>
              </a:defRPr>
            </a:pPr>
            <a:r>
              <a:rPr sz="1275" b="0">
                <a:solidFill>
                  <a:srgbClr val="5E6675"/>
                </a:solidFill>
              </a:rPr>
              <a:t>Questions with answer keys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9B3FC-C785-4493-B3BD-9F077D80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E3AC6-EEBD-4888-9CAB-073E06A2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8D66D-BF64-463A-B062-02B37FFD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5"/>
                </a:solidFill>
              </a:defRPr>
            </a:pPr>
            <a:r>
              <a:rPr sz="1275" b="0">
                <a:solidFill>
                  <a:srgbClr val="5E6675"/>
                </a:solidFill>
              </a:rPr>
              <a:t>PDFs rebuild indexes after restart</a:t>
            </a:r>
          </a:p>
        </p:txBody>
      </p:sp>
    </p:spTree>
    <p:extLst>
      <p:ext uri="{BB962C8B-B14F-4D97-AF65-F5344CB8AC3E}">
        <p14:creationId xmlns:p14="http://schemas.microsoft.com/office/powerpoint/2010/main" val="704697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51287-958B-47E0-8AE0-5A34CAAF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PRODUCT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38A83-E44E-408A-B7F9-E5AC36E3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The user journey is simple enough for a 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0F93F-550F-4EFA-81DE-C3FF1A7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Upload a source, ask a question, inspect evidence, then generate an exam from the same PDF.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FEC40-7846-4F79-AAC6-5ECF9451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22E5E-3C96-44C9-B591-AC5062A1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3E048-B7E5-457A-AD2A-F3E09044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6573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89837-019C-4863-9EC6-2D1332EE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D2C26-CF55-4BF2-B610-841E9ADB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70A"/>
                </a:solidFill>
              </a:defRPr>
            </a:pPr>
            <a:r>
              <a:rPr sz="1500" b="1">
                <a:solidFill>
                  <a:srgbClr val="05070A"/>
                </a:solidFill>
              </a:rPr>
              <a:t>Upload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65282-DA45-4ACB-B577-E5519436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EE5A0-04DE-4F9E-96D6-96B3AC5A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16573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BD70D-051B-42E9-BE31-9995826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71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4B2FF-F8E6-463E-882B-9677C22F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528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70A"/>
                </a:solidFill>
              </a:defRPr>
            </a:pPr>
            <a:r>
              <a:rPr sz="1500" b="1">
                <a:solidFill>
                  <a:srgbClr val="05070A"/>
                </a:solidFill>
              </a:rPr>
              <a:t>Build indexes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8221B-F08C-4FB1-9F93-BF7F4D11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26B72-56C6-41CF-9F18-D3D8723C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16573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61343-3CF3-4642-961A-12FC6643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71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FC679-ED78-4B96-B0EF-A22E189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70A"/>
                </a:solidFill>
              </a:defRPr>
            </a:pPr>
            <a:r>
              <a:rPr sz="1500" b="1">
                <a:solidFill>
                  <a:srgbClr val="05070A"/>
                </a:solidFill>
              </a:rPr>
              <a:t>Ask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68B00-12F0-4DE9-9208-791F320B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2F165-4D51-4D1B-9296-A8CA8C3C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9450"/>
            <a:ext cx="16573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6E477-2288-477A-8F25-25BE1F37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560C1-88E5-47B5-9260-89280026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528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70A"/>
                </a:solidFill>
              </a:defRPr>
            </a:pPr>
            <a:r>
              <a:rPr sz="1500" b="1">
                <a:solidFill>
                  <a:srgbClr val="05070A"/>
                </a:solidFill>
              </a:rPr>
              <a:t>Verify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00175-EC72-4A80-9EEF-0FABEB77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D8681-BAE2-4913-A044-66FA469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16573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6897A-1A2B-4FE8-A56B-5E269F7B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71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25E22-12E4-4EBC-B2FF-478D2F18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528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70A"/>
                </a:solidFill>
              </a:defRPr>
            </a:pPr>
            <a:r>
              <a:rPr sz="1500" b="1">
                <a:solidFill>
                  <a:srgbClr val="05070A"/>
                </a:solidFill>
              </a:rPr>
              <a:t>Generate exam</a:t>
            </a:r>
          </a:p>
        </p:txBody>
      </p:sp>
    </p:spTree>
    <p:extLst>
      <p:ext uri="{BB962C8B-B14F-4D97-AF65-F5344CB8AC3E}">
        <p14:creationId xmlns:p14="http://schemas.microsoft.com/office/powerpoint/2010/main" val="746248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897E9-E771-40DF-80FA-3F706F49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6E69-01D1-48C3-B497-811EAA95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Frontend, API, database, and RAG service stay cleanly separated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74F22-5CDF-4BB2-9155-8B6CD066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The architecture is production-oriented while still practical for Railway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7FB50-05CE-480E-ACB0-9067073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5AB46-1383-4C30-936F-732BABBF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00A41-628A-4BBC-9E11-1F86362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</a:defRPr>
            </a:pPr>
            <a:r>
              <a:rPr sz="1650" b="1">
                <a:solidFill>
                  <a:srgbClr val="1677FF"/>
                </a:solidFill>
              </a:rPr>
              <a:t>React +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B0759-D606-4FAD-B028-807C9EF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Responsive workspace, assistant, evidence, exams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D3033-125B-4EAA-AD83-9BAAC51E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solidFill>
              <a:srgbClr val="D4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F61F8-EEB2-433C-9D44-74C44DD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</a:defRPr>
            </a:pPr>
            <a:r>
              <a:rPr sz="1650" b="1">
                <a:solidFill>
                  <a:srgbClr val="1677FF"/>
                </a:solidFill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03504-EE64-41C4-A236-F59DE8C0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Auth, upload, ask, exam, health endpoints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000C5-C71F-4C83-B48E-3F2888DB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solidFill>
              <a:srgbClr val="D4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7F100-5C0B-45E7-9649-66AF1BC9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</a:defRPr>
            </a:pPr>
            <a:r>
              <a:rPr sz="1650" b="1">
                <a:solidFill>
                  <a:srgbClr val="1677FF"/>
                </a:solidFill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9AA67-9B12-4F13-95BA-BD70AC6F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Users and persisted PDF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2702B-B7EE-4982-91D8-A68595F4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solidFill>
              <a:srgbClr val="D4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1F80C-6908-4D25-A07E-9A340814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</a:defRPr>
            </a:pPr>
            <a:r>
              <a:rPr sz="1650" b="1">
                <a:solidFill>
                  <a:srgbClr val="1677FF"/>
                </a:solidFill>
              </a:rPr>
              <a:t>RAG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EDFC6-14E4-4B3A-87C2-88558E4F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243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Per-chat FAISS/BM25 runtime indexes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3C7EC-F512-42B1-93F8-9D89A2CA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solidFill>
              <a:srgbClr val="D4DA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8C3FB-8580-4CD2-8FB7-E9C5C29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</a:defRPr>
            </a:pPr>
            <a:r>
              <a:rPr sz="1650" b="1">
                <a:solidFill>
                  <a:srgbClr val="1677FF"/>
                </a:solidFill>
              </a:rPr>
              <a:t>Groq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8B822-A51D-4D66-AD4B-2E6D660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Source-grounded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4EC37-B18C-4366-81D4-90677A5A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solidFill>
              <a:srgbClr val="D4DA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1175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0EEAE-AE31-47D3-8FAF-EBD8F36C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RAG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9D33F-9AFC-44D5-A3E5-DD7C1264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The pipeline retrieves before it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8F7C8-72A1-4AD5-8E0D-9D853F78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Query rewriting, routing, hybrid retrieval, reranking, and verification reduce unsupported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487B2-B526-4F64-A207-1FD93A87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84FE3-2CE2-44A6-A5DC-DEE504B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D5B8B-8A25-49B0-88DA-D3A69B0C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B1228-677C-4BF3-9B68-7CC993B9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70A"/>
                </a:solidFill>
              </a:defRPr>
            </a:pPr>
            <a:r>
              <a:rPr sz="1650" b="1">
                <a:solidFill>
                  <a:srgbClr val="05070A"/>
                </a:solidFill>
              </a:rPr>
              <a:t>Rewrite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E86D0-4B91-4D2B-B2D7-DE97A693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62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65B39-FD40-4AA6-9996-0F64F04D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70A"/>
                </a:solidFill>
              </a:defRPr>
            </a:pPr>
            <a:r>
              <a:rPr sz="1650" b="1">
                <a:solidFill>
                  <a:srgbClr val="05070A"/>
                </a:solidFill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ABD68-84A9-4062-B107-F5293D49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570D5-3F9D-44F1-8F80-0DA7ADBC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70A"/>
                </a:solidFill>
              </a:defRPr>
            </a:pPr>
            <a:r>
              <a:rPr sz="1650" b="1">
                <a:solidFill>
                  <a:srgbClr val="05070A"/>
                </a:solidFill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65C71-67D7-4264-A658-51194B36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62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B80FB-ECA6-406F-9FCF-61F3247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70A"/>
                </a:solidFill>
              </a:defRPr>
            </a:pPr>
            <a:r>
              <a:rPr sz="1650" b="1">
                <a:solidFill>
                  <a:srgbClr val="05070A"/>
                </a:solidFill>
              </a:rPr>
              <a:t>Rerank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E75EE-4CAB-404C-85DD-4A4DD8C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B082E-5792-4209-8FA0-951969EA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70A"/>
                </a:solidFill>
              </a:defRPr>
            </a:pPr>
            <a:r>
              <a:rPr sz="1650" b="1">
                <a:solidFill>
                  <a:srgbClr val="05070A"/>
                </a:solidFill>
              </a:rPr>
              <a:t>Build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375CA-8B5A-45ED-BE6D-B28CE35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9100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F8160-9976-4356-85C9-B567A45D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058"/>
                </a:solidFill>
              </a:defRPr>
            </a:pPr>
            <a:r>
              <a:rPr sz="1650" b="1">
                <a:solidFill>
                  <a:srgbClr val="18A058"/>
                </a:solidFill>
              </a:rPr>
              <a:t>Generate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D483E-35DE-4ABF-94BC-F2064EE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D1666-B06C-438F-A6A7-963895DB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058"/>
                </a:solidFill>
              </a:defRPr>
            </a:pPr>
            <a:r>
              <a:rPr sz="1650" b="1">
                <a:solidFill>
                  <a:srgbClr val="18A058"/>
                </a:solidFill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2101471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57C70-AC85-4902-B266-013F4834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TRUST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9604B-4A76-426C-9E5E-5D26C270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Unsupported questions are refused instead of guessed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9AA0B-E2C6-4D6C-9B09-523A8964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The system blocks weak evidence and guides users to a doctor or qualified specialist when the source is insufficient.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ED251-8824-4A2E-9B9A-010061C8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9B03A-6E82-4CF3-95B1-62447C34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4EEB3-DA9F-4150-8AD4-7E23947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667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FC9FD-9E89-4A45-B7EA-4B98D25F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791F"/>
                </a:solidFill>
              </a:defRPr>
            </a:pPr>
            <a:r>
              <a:rPr sz="1875" b="1">
                <a:solidFill>
                  <a:srgbClr val="B7791F"/>
                </a:solidFill>
              </a:rPr>
              <a:t>If the PDF does not contain enough evidence, the answer is withheld.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13841-B9D8-4EE4-A1DC-377D2B6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4038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180FC-1D46-443C-9D70-7D176684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058"/>
                </a:solidFill>
              </a:defRPr>
            </a:pPr>
            <a:r>
              <a:rPr sz="1800" b="1">
                <a:solidFill>
                  <a:srgbClr val="18A058"/>
                </a:solidFill>
              </a:rPr>
              <a:t>The response includes confidence, groundedness, hallucination risk, and source pages.</a:t>
            </a:r>
          </a:p>
        </p:txBody>
      </p:sp>
    </p:spTree>
    <p:extLst>
      <p:ext uri="{BB962C8B-B14F-4D97-AF65-F5344CB8AC3E}">
        <p14:creationId xmlns:p14="http://schemas.microsoft.com/office/powerpoint/2010/main" val="395764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7A9B2-EC73-4454-9AD5-0FB4DED6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EXAM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56C8C-3303-496C-ACAB-D61F0290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The same source can generate assessment material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091C3-F64E-47CF-8DED-677CD5F2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Doctors, professors, and teaching assistants can set count, difficulty, type, and focus topic.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1FCB5-7103-4DBB-A1AC-5093EC3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4F553-9CA3-48D3-959F-359CEEA7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74F84-5A80-4BC9-BE33-8FE0FC2B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571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Structured JSON exam response through Pydantic.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MCQ, true/false, short answer, and essay-ready schema.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Answer key, explanation, page, and section per question.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Groundedness and hallucination risk visible in the UI.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66A8E-C9E6-4C8B-8741-CFAB819D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36F39-31D9-4712-97CC-3700537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2552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77FF"/>
                </a:solidFill>
              </a:defRPr>
            </a:pPr>
            <a:r>
              <a:rPr sz="2025" b="1">
                <a:solidFill>
                  <a:srgbClr val="1677FF"/>
                </a:solidFill>
              </a:rPr>
              <a:t>Exam output is not a paragraph; it is an API contract.</a:t>
            </a:r>
          </a:p>
        </p:txBody>
      </p:sp>
    </p:spTree>
    <p:extLst>
      <p:ext uri="{BB962C8B-B14F-4D97-AF65-F5344CB8AC3E}">
        <p14:creationId xmlns:p14="http://schemas.microsoft.com/office/powerpoint/2010/main" val="176928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24D66-2554-4208-B545-2B0BEB52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PERSISTENCE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C4202-C260-4C7A-B30B-45EC3DAB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PDFs survive restarts, while FAISS stays fast at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CAC72-1BDE-4E31-B22C-274D6075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The system persists source bytes in PostgreSQL and rebuilds indexes automatically when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6BC0C-EBBA-429B-9925-186B3BE5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1E073-8587-4747-946F-208C159F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0B773-701D-4F23-889F-CC99CD7B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647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Upload stores PDF bytes per user and chat.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Runtime FAISS/BM25 indexes remain lightweight.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After restart, missing index triggers automatic rebuild.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The original ask or exam request is retried after rebuild.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79245-2906-43FC-9338-F579D3DF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B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PostgreSQL source 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246E3-57E9-4A6F-984F-A19AD6BE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B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A058"/>
                </a:solidFill>
              </a:defRPr>
            </a:pPr>
            <a:r>
              <a:rPr sz="1125" b="1">
                <a:solidFill>
                  <a:srgbClr val="18A058"/>
                </a:solidFill>
              </a:rPr>
              <a:t>Automatic rebuild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BC5B5-B81C-4A7A-B243-9F8F61AE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4815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B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Railway ready</a:t>
            </a:r>
          </a:p>
        </p:txBody>
      </p:sp>
    </p:spTree>
    <p:extLst>
      <p:ext uri="{BB962C8B-B14F-4D97-AF65-F5344CB8AC3E}">
        <p14:creationId xmlns:p14="http://schemas.microsoft.com/office/powerpoint/2010/main" val="2758558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32F31-2BCE-4EDE-82DF-54B5FA33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PRODUCTION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CE9DE-5A5C-41C3-A266-EE0934E4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One Railway service serves both API and 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F744-21C7-4AEA-B661-F907E9F2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The root Dockerfile builds the Vite app, installs the FastAPI backend, and serves the SPA from the same container.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A5331-B774-4EED-8B43-595728D4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6B0A5-4D40-4D3B-A2EA-1E51898C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ED924-0FE6-4FEE-A1DA-C2F6F5A8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9E3FA-169E-4C45-B28E-9AE9D0E3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DF8B8-0B51-40B1-9144-361237ED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576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5"/>
                </a:solidFill>
              </a:defRPr>
            </a:pPr>
            <a:r>
              <a:rPr sz="1275" b="0">
                <a:solidFill>
                  <a:srgbClr val="5E6675"/>
                </a:solidFill>
              </a:rPr>
              <a:t>Frontend build + backend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E59D5-D4F6-4365-A129-E5F167A1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E9C7E-1401-4C93-90D5-AB49214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623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Postgres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928CC-F4A0-40E7-8F56-C65CF6E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5"/>
                </a:solidFill>
              </a:defRPr>
            </a:pPr>
            <a:r>
              <a:rPr sz="1275" b="0">
                <a:solidFill>
                  <a:srgbClr val="5E6675"/>
                </a:solidFill>
              </a:rPr>
              <a:t>Auth and persisted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D9EC3-CB3A-47EE-8D66-E7B7DBCE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7CE8C-2498-4D5E-A67A-61A5577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/health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6D6B2-E715-40BA-A2E4-4C90052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5"/>
                </a:solidFill>
              </a:defRPr>
            </a:pPr>
            <a:r>
              <a:rPr sz="1275" b="0">
                <a:solidFill>
                  <a:srgbClr val="5E6675"/>
                </a:solidFill>
              </a:rPr>
              <a:t>Railway healthcheck path</a:t>
            </a:r>
          </a:p>
        </p:txBody>
      </p:sp>
    </p:spTree>
    <p:extLst>
      <p:ext uri="{BB962C8B-B14F-4D97-AF65-F5344CB8AC3E}">
        <p14:creationId xmlns:p14="http://schemas.microsoft.com/office/powerpoint/2010/main" val="3734830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85440-F8EE-4E69-B9D5-2E3B309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D0A62-64F0-415E-9148-202D38F0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The next upgrades move the platform from demo to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FB95-8990-4569-A0B0-0872E15C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The current product is hackathon-ready; the roadmap focuses on larger datasets, evaluation, and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0C8F-0AE6-4C03-B397-69C1DFCE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1A924-CF67-467F-B341-A7B4FC3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5AA2F-1D51-43FC-9A2F-D8A3AC81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809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Full Arabic/English i18n across the frontend.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Background indexing jobs and progress streaming.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Optional pgvector or Qdrant for large persistent vector stores.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Automated RAG evaluation datasets and Playwright smoke tests.</a:t>
            </a:r>
          </a:p>
          <a:p xmlns:a="http://schemas.openxmlformats.org/drawingml/2006/main">
            <a:pPr algn="l">
              <a:defRPr sz="1725" b="0">
                <a:solidFill>
                  <a:srgbClr val="5E6675"/>
                </a:solidFill>
              </a:defRPr>
            </a:pPr>
            <a:r>
              <a:rPr sz="1725" b="0">
                <a:solidFill>
                  <a:srgbClr val="5E6675"/>
                </a:solidFill>
              </a:rPr>
              <a:t>• Exam export to PDF/DOCX and role-based permissions.</a:t>
            </a:r>
          </a:p>
        </p:txBody>
      </p:sp>
    </p:spTree>
    <p:extLst>
      <p:ext uri="{BB962C8B-B14F-4D97-AF65-F5344CB8AC3E}">
        <p14:creationId xmlns:p14="http://schemas.microsoft.com/office/powerpoint/2010/main" val="9417442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52B4C-BC57-4764-9475-5C6A2E2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TEAM AND CREDITS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0A1A7-BE3F-4C88-A19C-5E877B3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070A"/>
                </a:solidFill>
              </a:defRPr>
            </a:pPr>
            <a:r>
              <a:rPr sz="2850" b="1">
                <a:solidFill>
                  <a:srgbClr val="05070A"/>
                </a:solidFill>
              </a:rPr>
              <a:t>Kemet AI built DocuMind around trust, evidence, and education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09CD1-E66D-4427-887E-EB950BB7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5"/>
                </a:solidFill>
              </a:defRPr>
            </a:pPr>
            <a:r>
              <a:rPr sz="1500" b="0">
                <a:solidFill>
                  <a:srgbClr val="5E6675"/>
                </a:solidFill>
              </a:rPr>
              <a:t>The platform is ready to demonstrate with uploaded PDFs, source-only answers, and exam generation.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A5E4A-17CC-486F-BED6-E0B1AA95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DocuMind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4F7FE-A00D-4F14-81A0-875595AD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B2"/>
                </a:solidFill>
              </a:defRPr>
            </a:pPr>
            <a:r>
              <a:rPr sz="975" b="0">
                <a:solidFill>
                  <a:srgbClr val="9AA3B2"/>
                </a:solidFill>
              </a:rPr>
              <a:t>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87915f336489a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7813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7d858ce8946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7813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76F9D-6C5E-4245-9D91-EAD4E4A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70A"/>
                </a:solidFill>
              </a:defRPr>
            </a:pPr>
            <a:r>
              <a:rPr sz="1350" b="1">
                <a:solidFill>
                  <a:srgbClr val="05070A"/>
                </a:solidFill>
              </a:rPr>
              <a:t>Kareem Ayman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FEFE3-D077-49EA-B71E-EFCED02B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70A"/>
                </a:solidFill>
              </a:defRPr>
            </a:pPr>
            <a:r>
              <a:rPr sz="1350" b="1">
                <a:solidFill>
                  <a:srgbClr val="05070A"/>
                </a:solidFill>
              </a:rPr>
              <a:t>Jana Ashraf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B598A-F1A8-437A-B664-4E07BBA6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70A"/>
                </a:solidFill>
              </a:defRPr>
            </a:pPr>
            <a:r>
              <a:rPr sz="1800" b="1">
                <a:solidFill>
                  <a:srgbClr val="05070A"/>
                </a:solidFill>
              </a:rPr>
              <a:t>Sama Hany</a:t>
            </a:r>
          </a:p>
          <a:p xmlns:a="http://schemas.openxmlformats.org/drawingml/2006/main">
            <a:pPr algn="l">
              <a:defRPr sz="1800" b="1">
                <a:solidFill>
                  <a:srgbClr val="05070A"/>
                </a:solidFill>
              </a:defRPr>
            </a:pPr>
            <a:r>
              <a:rPr sz="1800" b="1">
                <a:solidFill>
                  <a:srgbClr val="05070A"/>
                </a:solidFill>
              </a:rPr>
              <a:t>Sara Elsafty</a:t>
            </a:r>
          </a:p>
          <a:p xmlns:a="http://schemas.openxmlformats.org/drawingml/2006/main">
            <a:pPr algn="l">
              <a:defRPr sz="1800" b="1">
                <a:solidFill>
                  <a:srgbClr val="05070A"/>
                </a:solidFill>
              </a:defRPr>
            </a:pPr>
            <a:r>
              <a:rPr sz="1800" b="1">
                <a:solidFill>
                  <a:srgbClr val="05070A"/>
                </a:solidFill>
              </a:rPr>
              <a:t>Nadin Farid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62F4C-D054-4E9F-AF7A-F97ACFB7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5"/>
                </a:solidFill>
              </a:defRPr>
            </a:pPr>
            <a:r>
              <a:rPr sz="1650" b="0">
                <a:solidFill>
                  <a:srgbClr val="5E6675"/>
                </a:solidFill>
              </a:rPr>
              <a:t>Supervisor: Eng / Jana Hatem</a:t>
            </a:r>
          </a:p>
          <a:p xmlns:a="http://schemas.openxmlformats.org/drawingml/2006/main">
            <a:pPr algn="l">
              <a:defRPr sz="1650" b="0">
                <a:solidFill>
                  <a:srgbClr val="5E6675"/>
                </a:solidFill>
              </a:defRPr>
            </a:pPr>
            <a:r>
              <a:rPr sz="1650" b="0">
                <a:solidFill>
                  <a:srgbClr val="5E6675"/>
                </a:solidFill>
              </a:rPr>
              <a:t>Assistant Engineer: Gad Amr</a:t>
            </a:r>
          </a:p>
        </p:txBody>
      </p:sp>
    </p:spTree>
    <p:extLst>
      <p:ext uri="{BB962C8B-B14F-4D97-AF65-F5344CB8AC3E}">
        <p14:creationId xmlns:p14="http://schemas.microsoft.com/office/powerpoint/2010/main" val="848855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2026-08-20T00:15:49.1790000Z</dcterms:created>
  <dcterms:modified xsi:type="dcterms:W3CDTF">2026-08-20T00:15:49.1800000Z</dcterms:modified>
</coreProperties>
</file>